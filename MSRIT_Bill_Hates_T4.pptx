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39" y="3310128"/>
            <a:ext cx="6875311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– Theme 4: Streaming Live RAG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– Bill Hates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MSRIT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Arnav Vivek Bansal 1ms25cs028@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msrit.edu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Arya Vardhan Pandey 1ms25cs030@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msrit.edu</a:t>
            </a:r>
            <a:endParaRPr lang="en-US"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S. Hrithik 1ms25cs163@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msrit.edu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Arpan Ranjan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1ms25me021@msrit.edu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https://github.com/hrithik160/samsung_RAG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2200"/>
              <a:buFont typeface="Calibri"/>
              <a:buNone/>
            </a:pPr>
            <a:r>
              <a:rPr sz="2200" b="1" i="0">
                <a:solidFill>
                  <a:srgbClr val="14142B"/>
                </a:solidFill>
                <a:latin typeface="Calibri"/>
              </a:rPr>
              <a:t>Streaming, session-aware retrieval-augmented generation for real-time conversational AI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900"/>
              <a:buFont typeface="Calibri"/>
              <a:buChar char="•"/>
            </a:pPr>
            <a:r>
              <a:rPr sz="1900" b="0" i="0">
                <a:solidFill>
                  <a:srgbClr val="63637E"/>
                </a:solidFill>
                <a:latin typeface="Calibri"/>
              </a:rPr>
              <a:t>Problem: conversational assistants receive transcripts as they arrive, and must decide in real time whether to wait, retrieve, or simply respond — without calling retrieval on every utterance.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900"/>
              <a:buFont typeface="Calibri"/>
              <a:buChar char="•"/>
            </a:pPr>
            <a:r>
              <a:rPr sz="1900" b="0" i="0">
                <a:solidFill>
                  <a:srgbClr val="63637E"/>
                </a:solidFill>
                <a:latin typeface="Calibri"/>
              </a:rPr>
              <a:t>Goal: a retrieval pipeline that knows WHEN to search, WHAT to search for when a request bundles several intents, and how to keep multi-turn answers grounded, cited, and consistent.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900"/>
              <a:buFont typeface="Calibri"/>
              <a:buChar char="•"/>
            </a:pPr>
            <a:r>
              <a:rPr sz="1900" b="0" i="0">
                <a:solidFill>
                  <a:srgbClr val="63637E"/>
                </a:solidFill>
                <a:latin typeface="Calibri"/>
              </a:rPr>
              <a:t>Applied here to Samsung device-support conversations, grounded in the official Galaxy A-series user guide — the same five-stage pipeline generalizes to any closed, enterprise knowledge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838200" y="1875625"/>
          <a:ext cx="10515600" cy="4060000"/>
        </p:xfrm>
        <a:graphic>
          <a:graphicData uri="http://schemas.openxmlformats.org/drawingml/2006/table">
            <a:tbl>
              <a:tblPr/>
              <a:tblGrid>
                <a:gridCol w="4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Typical RAG chatbot approach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Gap it leaves open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704E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Retrieve on every user turn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3637E"/>
                          </a:solidFill>
                          <a:latin typeface="Calibri"/>
                        </a:rPr>
                        <a:t>Wastes calls on chit-chat, acknowledgements, and incomplete input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Treats each query as one intent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3637E"/>
                          </a:solidFill>
                          <a:latin typeface="Calibri"/>
                        </a:rPr>
                        <a:t>Compound, multi-part questions get partial or merged answers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Single retrieval pass (dense or keyword only)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3637E"/>
                          </a:solidFill>
                          <a:latin typeface="Calibri"/>
                        </a:rPr>
                        <a:t>No fusion, reranking, or uncertainty check — weak matches slip through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Stateless, turn-by-turn generation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3637E"/>
                          </a:solidFill>
                          <a:latin typeface="Calibri"/>
                        </a:rPr>
                        <a:t>Follow-ups re-retrieve from scratch; can't cheaply reformat a cached answer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No structured evaluation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3637E"/>
                          </a:solidFill>
                          <a:latin typeface="Calibri"/>
                        </a:rPr>
                        <a:t>Hard to tell if answers are grounded, or to track retrieval quality over time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731000" y="1945625"/>
            <a:ext cx="1850000" cy="620000"/>
          </a:xfrm>
          <a:prstGeom prst="roundRect">
            <a:avLst>
              <a:gd name="adj" fmla="val 10000"/>
            </a:avLst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Controller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31000" y="2585625"/>
            <a:ext cx="1850000" cy="1150000"/>
          </a:xfrm>
          <a:prstGeom prst="rect">
            <a:avLst/>
          </a:prstGeom>
          <a:solidFill>
            <a:srgbClr val="F2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4142B"/>
                </a:solidFill>
                <a:latin typeface="Calibri"/>
              </a:rPr>
              <a:t>WAIT / RETRIEVE /
NO_RETRIEVAL gate</a:t>
            </a:r>
          </a:p>
        </p:txBody>
      </p:sp>
      <p:sp>
        <p:nvSpPr>
          <p:cNvPr id="116" name="Right Arrow 115"/>
          <p:cNvSpPr/>
          <p:nvPr/>
        </p:nvSpPr>
        <p:spPr>
          <a:xfrm>
            <a:off x="2581000" y="2185625"/>
            <a:ext cx="370000" cy="300000"/>
          </a:xfrm>
          <a:prstGeom prst="rightArrow">
            <a:avLst/>
          </a:prstGeom>
          <a:solidFill>
            <a:srgbClr val="63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2951000" y="1945625"/>
            <a:ext cx="1850000" cy="620000"/>
          </a:xfrm>
          <a:prstGeom prst="roundRect">
            <a:avLst>
              <a:gd name="adj" fmla="val 10000"/>
            </a:avLst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Decomposer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951000" y="2585625"/>
            <a:ext cx="1850000" cy="1150000"/>
          </a:xfrm>
          <a:prstGeom prst="rect">
            <a:avLst/>
          </a:prstGeom>
          <a:solidFill>
            <a:srgbClr val="F2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4142B"/>
                </a:solidFill>
                <a:latin typeface="Calibri"/>
              </a:rPr>
              <a:t>Splits multi-intent
queries into sub-queries</a:t>
            </a:r>
          </a:p>
        </p:txBody>
      </p:sp>
      <p:sp>
        <p:nvSpPr>
          <p:cNvPr id="119" name="Right Arrow 118"/>
          <p:cNvSpPr/>
          <p:nvPr/>
        </p:nvSpPr>
        <p:spPr>
          <a:xfrm>
            <a:off x="4801000" y="2185625"/>
            <a:ext cx="370000" cy="300000"/>
          </a:xfrm>
          <a:prstGeom prst="rightArrow">
            <a:avLst/>
          </a:prstGeom>
          <a:solidFill>
            <a:srgbClr val="63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5171000" y="1945625"/>
            <a:ext cx="1850000" cy="620000"/>
          </a:xfrm>
          <a:prstGeom prst="roundRect">
            <a:avLst>
              <a:gd name="adj" fmla="val 10000"/>
            </a:avLst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Retriever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171000" y="2585625"/>
            <a:ext cx="1850000" cy="1150000"/>
          </a:xfrm>
          <a:prstGeom prst="rect">
            <a:avLst/>
          </a:prstGeom>
          <a:solidFill>
            <a:srgbClr val="F2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4142B"/>
                </a:solidFill>
                <a:latin typeface="Calibri"/>
              </a:rPr>
              <a:t>Hybrid dense + BM25,
RRF fusion, rerank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7021000" y="2185625"/>
            <a:ext cx="370000" cy="300000"/>
          </a:xfrm>
          <a:prstGeom prst="rightArrow">
            <a:avLst/>
          </a:prstGeom>
          <a:solidFill>
            <a:srgbClr val="63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7391000" y="1945625"/>
            <a:ext cx="1850000" cy="620000"/>
          </a:xfrm>
          <a:prstGeom prst="roundRect">
            <a:avLst>
              <a:gd name="adj" fmla="val 10000"/>
            </a:avLst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Session
Synthesizer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391000" y="2585625"/>
            <a:ext cx="1850000" cy="1150000"/>
          </a:xfrm>
          <a:prstGeom prst="rect">
            <a:avLst/>
          </a:prstGeom>
          <a:solidFill>
            <a:srgbClr val="F2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4142B"/>
                </a:solidFill>
                <a:latin typeface="Calibri"/>
              </a:rPr>
              <a:t>Versioned, cited
answers per turn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9241000" y="2185625"/>
            <a:ext cx="370000" cy="300000"/>
          </a:xfrm>
          <a:prstGeom prst="rightArrow">
            <a:avLst/>
          </a:prstGeom>
          <a:solidFill>
            <a:srgbClr val="63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9611000" y="1945625"/>
            <a:ext cx="1850000" cy="620000"/>
          </a:xfrm>
          <a:prstGeom prst="roundRect">
            <a:avLst>
              <a:gd name="adj" fmla="val 10000"/>
            </a:avLst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Telemetry
&amp; Eval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611000" y="2585625"/>
            <a:ext cx="1850000" cy="1150000"/>
          </a:xfrm>
          <a:prstGeom prst="rect">
            <a:avLst/>
          </a:prstGeom>
          <a:solidFill>
            <a:srgbClr val="F2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4142B"/>
                </a:solidFill>
                <a:latin typeface="Calibri"/>
              </a:rPr>
              <a:t>JSONL traces,
ablations, gates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8200" y="3935625"/>
            <a:ext cx="10515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i="1">
                <a:solidFill>
                  <a:srgbClr val="63637E"/>
                </a:solidFill>
                <a:latin typeface="Calibri"/>
              </a:rPr>
              <a:t>Pipeline: WAIT / NO_RETRIEVAL / RETRIEVE → decomposition → hybrid retrieval &amp; fusion → session synthesis → telemetry.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63637E"/>
                </a:solidFill>
                <a:latin typeface="Calibri"/>
              </a:rPr>
              <a:t>Session state is keyed by session_id; the closed local corpus (Samsung Galaxy device guides) is the only allowed evidence source — uncited or unsupported answers fail closed.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1900"/>
              <a:buFont typeface="Calibri"/>
              <a:buNone/>
            </a:pPr>
            <a:r>
              <a:rPr sz="1900" b="1" i="0">
                <a:solidFill>
                  <a:srgbClr val="14142B"/>
                </a:solidFill>
                <a:latin typeface="Calibri"/>
              </a:rPr>
              <a:t>A single terminal session streams transcript turns through Controller → Decomposer → Retriever → Synthesizer → Telemetry: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700"/>
              <a:buFont typeface="Calibri"/>
              <a:buChar char="•"/>
            </a:pPr>
            <a:r>
              <a:rPr sz="1700" b="0" i="0">
                <a:solidFill>
                  <a:srgbClr val="63637E"/>
                </a:solidFill>
                <a:latin typeface="Calibri"/>
              </a:rPr>
              <a:t>WAIT &amp; early retrieval — an incomplete turn returns WAIT; a stable-but-not-final question (e.g. an S24 battery query) triggers provisional retrieval.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700"/>
              <a:buFont typeface="Calibri"/>
              <a:buChar char="•"/>
            </a:pPr>
            <a:r>
              <a:rPr sz="1700" b="0" i="0">
                <a:solidFill>
                  <a:srgbClr val="63637E"/>
                </a:solidFill>
                <a:latin typeface="Calibri"/>
              </a:rPr>
              <a:t>Compound request &amp; citations — a bundled cancellation-and-catering request is decomposed into sub-queries; fused evidence is shown with [Doc_ID §Section] citations.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700"/>
              <a:buFont typeface="Calibri"/>
              <a:buChar char="•"/>
            </a:pPr>
            <a:r>
              <a:rPr sz="1700" b="0" i="0">
                <a:solidFill>
                  <a:srgbClr val="63637E"/>
                </a:solidFill>
                <a:latin typeface="Calibri"/>
              </a:rPr>
              <a:t>Late refinement — a new constraint is added to the same session; the answer version increases while the prior supported fact and its citation remain available.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700"/>
              <a:buFont typeface="Calibri"/>
              <a:buChar char="•"/>
            </a:pPr>
            <a:r>
              <a:rPr sz="1700" b="0" i="0">
                <a:solidFill>
                  <a:srgbClr val="63637E"/>
                </a:solidFill>
                <a:latin typeface="Calibri"/>
              </a:rPr>
              <a:t>Presentation-only ask — "put that in bullets" restyles the cached answer with no new retrieval call and unchanged citations.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700"/>
              <a:buFont typeface="Calibri"/>
              <a:buChar char="•"/>
            </a:pPr>
            <a:r>
              <a:rPr sz="1700" b="0" i="0">
                <a:solidFill>
                  <a:srgbClr val="63637E"/>
                </a:solidFill>
                <a:latin typeface="Calibri"/>
              </a:rPr>
              <a:t>Uncertainty &amp; telemetry — a question unsupported by the corpus returns an explicit uncertainty response; the generated JSONL trace is opened to show decision, trigger, citations, version, latency, and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838200" y="1875625"/>
          <a:ext cx="10515600" cy="428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Tools &amp; Libraries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704E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04EA6"/>
                          </a:solidFill>
                          <a:latin typeface="Calibri"/>
                        </a:rPr>
                        <a:t>Language &amp; automation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Python 3.10 / 3.11, PowerShell setup &amp; run scripts (run.ps1)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04EA6"/>
                          </a:solidFill>
                          <a:latin typeface="Calibri"/>
                        </a:rPr>
                        <a:t>API &amp; serving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FastAPI, Uvicorn, Pydantic, httpx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04EA6"/>
                          </a:solidFill>
                          <a:latin typeface="Calibri"/>
                        </a:rPr>
                        <a:t>LLM &amp; embeddings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Gemini 3.6 Flash (decomposition + generation), gemini-embedding-001 (Google AI Studio)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04EA6"/>
                          </a:solidFill>
                          <a:latin typeface="Calibri"/>
                        </a:rPr>
                        <a:t>Retrieval models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Hybrid dense + BM25 with Reciprocal Rank Fusion; optional BAAI/bge-large-en-v1.5 embeddings + BAAI/bge-reranker-large cross-encoder via sentence-transformers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04EA6"/>
                          </a:solidFill>
                          <a:latin typeface="Calibri"/>
                        </a:rPr>
                        <a:t>Data &amp; storage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NumPy, Pandas, SQLite (checkpointed embeddings), pypdf, local cached vector index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04EA6"/>
                          </a:solidFill>
                          <a:latin typeface="Calibri"/>
                        </a:rPr>
                        <a:t>Testing &amp; evaluation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pytest, custom JSONL telemetry schema, Pillow-rendered benchmark charts</a:t>
                      </a:r>
                    </a:p>
                  </a:txBody>
                  <a:tcPr marL="73152" marR="73152">
                    <a:lnL w="3175">
                      <a:noFill/>
                    </a:lnL>
                    <a:lnR w="3175">
                      <a:noFill/>
                    </a:lnR>
                    <a:lnT w="3175">
                      <a:noFill/>
                    </a:lnT>
                    <a:lnB w="3175">
                      <a:noFill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1900"/>
              <a:buFont typeface="Calibri"/>
              <a:buNone/>
            </a:pPr>
            <a:r>
              <a:rPr sz="1900" b="1" i="0">
                <a:solidFill>
                  <a:srgbClr val="14142B"/>
                </a:solidFill>
                <a:latin typeface="Calibri"/>
              </a:rPr>
              <a:t>Primary use case: a Samsung device-support copilot that answers live chat/voice questions about Galaxy A-series phones with grounded, cited answers.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42% fewer retrieval calls than an always-retrieve baseline (14 vs 24 in the offline eval), without losing recall — lower latency and inference cost per session.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100% decision accuracy and 100% cache reuse on cosmetic turns — consistent answers that don’t redo work for a reformatting request.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Zero fabricated citations across every evaluated turn — safer for customer-facing support.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The same modular pipeline generalizes beyond phones: any support desk, in-store kiosk, or internal knowledge assistant built on a closed corpus.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500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1600"/>
              <a:buFont typeface="Calibri"/>
              <a:buNone/>
            </a:pPr>
            <a:r>
              <a:rPr sz="1600" b="1" i="0">
                <a:solidFill>
                  <a:srgbClr val="704EA6"/>
                </a:solidFill>
                <a:latin typeface="Calibri"/>
              </a:rPr>
              <a:t>Highlights</a:t>
            </a:r>
          </a:p>
          <a:p>
            <a:pPr marL="177800" indent="-1778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Calibri"/>
              <a:buChar char="•"/>
            </a:pPr>
            <a:r>
              <a:rPr sz="1350" b="0" i="0">
                <a:solidFill>
                  <a:srgbClr val="63637E"/>
                </a:solidFill>
                <a:latin typeface="Calibri"/>
              </a:rPr>
              <a:t>Decision gating (WAIT / RETRIEVE / NO_RETRIEVAL) cuts retrieval calls ~42% vs. always-retrieve, without losing recall.</a:t>
            </a:r>
          </a:p>
          <a:p>
            <a:pPr marL="177800" indent="-1778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Calibri"/>
              <a:buChar char="•"/>
            </a:pPr>
            <a:r>
              <a:rPr sz="1350" b="0" i="0">
                <a:solidFill>
                  <a:srgbClr val="63637E"/>
                </a:solidFill>
                <a:latin typeface="Calibri"/>
              </a:rPr>
              <a:t>Entity-propagating decomposition fixes compound follow-ups that used to lose their subject.</a:t>
            </a:r>
          </a:p>
          <a:p>
            <a:pPr marL="177800" indent="-1778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Calibri"/>
              <a:buChar char="•"/>
            </a:pPr>
            <a:r>
              <a:rPr sz="1350" b="0" i="0">
                <a:solidFill>
                  <a:srgbClr val="63637E"/>
                </a:solidFill>
                <a:latin typeface="Calibri"/>
              </a:rPr>
              <a:t>Uncertainty gate + citation allow-list → zero fabricated citations, explicit fallback.</a:t>
            </a:r>
          </a:p>
          <a:p>
            <a:pPr marL="177800" indent="-1778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Calibri"/>
              <a:buChar char="•"/>
            </a:pPr>
            <a:r>
              <a:rPr sz="1350" b="0" i="0">
                <a:solidFill>
                  <a:srgbClr val="63637E"/>
                </a:solidFill>
                <a:latin typeface="Calibri"/>
              </a:rPr>
              <a:t>Versioned session synthesis: cosmetic edits reuse cached, cited answers.</a:t>
            </a:r>
          </a:p>
          <a:p>
            <a:pPr mar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04EA6"/>
              </a:buClr>
              <a:buSzPts val="1600"/>
              <a:buFont typeface="Calibri"/>
              <a:buNone/>
            </a:pPr>
            <a:r>
              <a:rPr sz="1600" b="1" i="0">
                <a:solidFill>
                  <a:srgbClr val="704EA6"/>
                </a:solidFill>
                <a:latin typeface="Calibri"/>
              </a:rPr>
              <a:t>Limitations</a:t>
            </a:r>
          </a:p>
          <a:p>
            <a:pPr marL="177800" indent="-1778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Calibri"/>
              <a:buChar char="•"/>
            </a:pPr>
            <a:r>
              <a:rPr sz="1350" b="0" i="0">
                <a:solidFill>
                  <a:srgbClr val="63637E"/>
                </a:solidFill>
                <a:latin typeface="Calibri"/>
              </a:rPr>
              <a:t>Reported benchmark uses offline stand-ins (hashing embedder, token-overlap reranker), not the production Gemini/BGE path.</a:t>
            </a:r>
          </a:p>
          <a:p>
            <a:pPr marL="177800" indent="-1778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Calibri"/>
              <a:buChar char="•"/>
            </a:pPr>
            <a:r>
              <a:rPr sz="1350" b="0" i="0">
                <a:solidFill>
                  <a:srgbClr val="63637E"/>
                </a:solidFill>
                <a:latin typeface="Calibri"/>
              </a:rPr>
              <a:t>Eval set is 7 sessions / 24 turns — smoke-test scale, not a full benchmark.</a:t>
            </a:r>
          </a:p>
          <a:p>
            <a:pPr marL="177800" indent="-1778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Calibri"/>
              <a:buChar char="•"/>
            </a:pPr>
            <a:r>
              <a:rPr sz="1350" b="0" i="0">
                <a:solidFill>
                  <a:srgbClr val="63637E"/>
                </a:solidFill>
                <a:latin typeface="Calibri"/>
              </a:rPr>
              <a:t>Session memory is in-process and ephemeral; no multi-worker store yet.</a:t>
            </a:r>
          </a:p>
          <a:p>
            <a:pPr marL="177800" indent="-1778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350"/>
              <a:buFont typeface="Calibri"/>
              <a:buChar char="•"/>
            </a:pPr>
            <a:r>
              <a:rPr sz="1350" b="0" i="0">
                <a:solidFill>
                  <a:srgbClr val="63637E"/>
                </a:solidFill>
                <a:latin typeface="Calibri"/>
              </a:rPr>
              <a:t>Clean-machine reproducibility (gate G1) is still pending replay.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38200" y="1825625"/>
            <a:ext cx="52156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04EA6"/>
                </a:solidFill>
                <a:latin typeface="Calibri"/>
              </a:rPr>
              <a:t>Results: 5 of 6 acceptance gates PASS (offline fixture harness)</a:t>
            </a:r>
          </a:p>
        </p:txBody>
      </p:sp>
      <p:pic>
        <p:nvPicPr>
          <p:cNvPr id="140" name="Picture 139" descr="eval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200" y="2305625"/>
            <a:ext cx="5215600" cy="3042433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6138200" y="5438058"/>
            <a:ext cx="52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63637E"/>
                </a:solidFill>
                <a:latin typeface="Calibri"/>
              </a:rPr>
              <a:t>A: always-retrieve · B: controller-only · C: full pipeline. Fixture evidence, not a production benchmark.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Swap the benchmark stand-ins (hashing embedder, token-overlap reranker) for the production path — Gemini embeddings/generation plus a BGE reranker — and re-run the same harness for real numbers.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Grow the evaluation set past 7 sessions / 24 turns and add human-reviewed citation entailment checks.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Move session memory from an in-process cache to a persistent, multi-worker store (e.g. Redis).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Close acceptance gate G1 with a clean-machine reproducibility replay.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Add OCR for scanned manuals and broaden past the Galaxy A-series demo corpus.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Record and ship the five-minute live product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Every LLM-backed stage ships a deterministic offline fallback — the whole pipeline runs, tests, and evaluates end to end with zero API keys or downloads.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A genuine ablation study, not one config: hybrid vs. dense-only vs. sparse-only retrieval, each with reranking on and off.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Six explicit, named acceptance gates instead of a single "it works" claim.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The benchmark report documents its own fixture limits and lists three real bugs found — and fixed — during integration, with root cause and correction for each.</a:t>
            </a:r>
          </a:p>
          <a:p>
            <a:pPr marL="177800" indent="-177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63637E"/>
              </a:buClr>
              <a:buSzPts val="1800"/>
              <a:buFont typeface="Calibri"/>
              <a:buChar char="•"/>
            </a:pPr>
            <a:r>
              <a:rPr sz="1800" b="0" i="0">
                <a:solidFill>
                  <a:srgbClr val="63637E"/>
                </a:solidFill>
                <a:latin typeface="Calibri"/>
              </a:rPr>
              <a:t>Full turn-level telemetry against a published JSON Schema: decision, trigger, citations, answer version, latency, and token/cost estimate for every single turn.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Microsoft Office PowerPoint</Application>
  <PresentationFormat>Widescreen</PresentationFormat>
  <Paragraphs>107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Arnav Bansal</cp:lastModifiedBy>
  <cp:revision>2</cp:revision>
  <dcterms:created xsi:type="dcterms:W3CDTF">2026-09-07T12:01:01Z</dcterms:created>
  <dcterms:modified xsi:type="dcterms:W3CDTF">2026-09-30T02:26:58Z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